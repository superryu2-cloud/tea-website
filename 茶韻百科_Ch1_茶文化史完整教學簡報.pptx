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027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history_dynasty_ri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9F6E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000" y="91440"/>
            <a:ext cx="6096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2"/>
          <p:cNvSpPr/>
          <p:nvPr/>
        </p:nvSpPr>
        <p:spPr>
          <a:xfrm>
            <a:off x="6461760" y="201168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45309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茶文化史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61760" y="3200400"/>
            <a:ext cx="536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從遠古起源到當代人文的歷史演進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522720" y="4389120"/>
            <a:ext cx="2743200" cy="2743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Text 5"/>
          <p:cNvSpPr/>
          <p:nvPr/>
        </p:nvSpPr>
        <p:spPr>
          <a:xfrm>
            <a:off x="6461760" y="4754880"/>
            <a:ext cx="536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A29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中華茶產業文化研究學會 · 專題課程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COURSE OBJECTIVES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本堂重點學習目標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calligraphy_scro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探尋茶的起源與中國歷代茶文化流變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認識唐、宋、明、清飲茶方式的變遷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理解茶文化傳播至世界的歷程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探討台灣茶產業與人文茶席的形成背景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告訴學員今天這不只是一堂歷史課，更是關於美學演變的生活通識。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history_shenno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PART 01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30175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茶的起源與早期傳說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0" y="4114800"/>
            <a:ext cx="1219200" cy="27432"/>
          </a:xfrm>
          <a:prstGeom prst="rect">
            <a:avLst/>
          </a:prstGeom>
          <a:solidFill>
            <a:srgbClr val="B4530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ORIGINS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神農傳說：始于武夷，遠溯上古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shenno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「神農嘗百草，日遇七十二毒，得荼而解之。」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中國是最早發現與利用茶樹的國家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發源地：中國西南盆地（雲貴川交界）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講解神農傳說雖然是神話，但反映了先民透過實踐認識植物藥性的真實歷史。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TEXTUAL EVOLUTION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從「荼」到「茶」的文字演進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calligraphy_scro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先秦古稱「荼」：原指苦菜的一種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《爾雅》記載：「檟，苦荼」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唐代陸羽《茶經》將「荼」減一劃，正式定名為「茶」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優雅的別稱：茗、荈、瑞草、甘露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減去一劃，象徵著茶從「一般的植物」獨立，躍升為「專屬文化飲品」的地位提升。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EVOLUTION OF FUNCTION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從藥用、食用到飲用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tea_house_ghib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藥用期（遠古）：解毒、提神、治病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食用期（先秦至漢魏）：與蔥、薑、橘皮共煮作羹湯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飲用期（唐代之後）：純粹品鑑茶湯風味，追求精神愉悅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可以引導學員想像，把茶葉當作青菜煮湯喝是什麼味道？為何後來會變成只喝湯？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EARLY DINASTIES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先秦至魏晉：從巴蜀到江南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calligraphy_scro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巴蜀地區：中國最早的種植中心（西漢《僮約》：「武陽買茶」）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江南擴展：茶隨政權南遷，在長江流域生根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文人化初階：魏晉名士提倡「以茶代酒」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茶逐漸具備了清廉、高雅的象徵，是文人士大夫遠離塵囂的寄託。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xueya-ch4-dynasty-ta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PART 02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30175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中國茶文化的歷史脈絡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0" y="4114800"/>
            <a:ext cx="1219200" cy="27432"/>
          </a:xfrm>
          <a:prstGeom prst="rect">
            <a:avLst/>
          </a:prstGeom>
          <a:solidFill>
            <a:srgbClr val="B4530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TANG DYNASTY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唐朝：大唐盛世與茶的國飲地位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dynasty-ta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佛教禪宗興盛：坐禪需提神，寺院廣種茶，帶動民間飲茶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生產力發達：大運河開通，南方茶葉大量北運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社會風尚：茶從地方飲品躍升為整個國家的文化象徵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唐代的繁華與安定，讓茶葉不再只是地方特產，而是全國性的流行飲品。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LU YU &amp; THE CLASSIC OF TEA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陸羽與世界首部《茶經》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calligraphy_scro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西元八世紀問世，世界第一部全面性茶學專著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確立茶學體系：涵蓋種植、器具、水質、火候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陸羽被後世尊崇為「茶聖」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陸羽讓喝茶有了SOP，不再只是解渴，而是提升到了精神修行的高度。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BOILING TEA METHOD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唐代飲茶方式：煎茶法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dynasty-ta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主流茶葉：餅茶（團茶）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步驟：炙茶(烤) ➔ 碾茶(磨) ➔ 羅茶(篩) ➔ 候湯 ➔ 煮茶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特色：只加少許鹽提味，不再加蔥薑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水質講究：「山水上，江水中，井水下」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煮茶就像現在煮湯。講解一沸、二沸、三沸時水泡的大小與投茶時機。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SONG DYNASTY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宋朝：風雅大宋與極致茶事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dynasty-so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時代背景：重文輕武，士大夫追求極致生活美學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皇家推廣：宋徽宗趙佶親撰《大觀茶論》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「建茶」崛起：北苑貢茶（龍團鳳餅）極其奢華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四般閒事：點茶、焚香、掛畫、插花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說明宋人多麼講究生活品味，連皇帝都是茶藝大師，茶事與藝術高度結合。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WHISKING TEA METHOD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宋代飲茶方式：點茶法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dynasty-so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工序：將極細茶粉放入碗中，注水後用「茶筅」快速擊打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追求效果：「乳麵」（雪白細緻的茶泡沫）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必備茶器：茶筅（擊打工具）與茶碗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生動描述點茶的手法，並解釋這其實就是當今日本抹茶道的歷史源頭。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TEA COMPETITIONS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宋朝特有風尚：鬥茶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dynasty-so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鬥茶定義：評比茶葉品質與點茶技術的競技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標準一：湯色（越純白越好，代表茶青極嫩）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標準二：水痕（茶沫掛碗壁「咬盞」不散為勝）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建盞（黑釉）：因為能最佳襯托白色的茶沫而成為首選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就像現在的咖啡拉花比賽或杯測賽，是從皇室到市井小民的全民娛樂。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 DYNASTY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明朝：廢團茶、興散茶的重大變革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dynasty-m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背景：宋元龍團鳳餅製作繁複，過於耗費民力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洪武詔令：明太祖朱元璋下令「罷造龍團，惟採茶芽以進」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歷史意義：推動了製茶工藝大革命，炒青綠茶、烏龍茶開始發展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核心精神：由奢靡反璞歸真，回歸文人清雅的山野之趣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朱元璋體恤農民的一道聖旨，陰錯陽差地改變了中國未來600年的喝茶方式。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STEEPING &amp; TEAPOTS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明代飲茶方式：瀹泡法與紫砂崛起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dynasty-m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瀹泡法（ㄩㄝˋ）：直接將條索狀散茶置入壺或杯中，以沸水沖泡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茶具革新：淘汰建盞，改尚「白瓷」與「青花瓷」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宜興紫砂壺：因透氣保香、古樸素雅，正式登上歷史舞台，成為泡茶首選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因為茶葉從「打碎的粉」變成「完整的葉」，所需要的器皿也從「碗」變成了「壺」。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QING DYNASTY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清代至近代：世俗化與商業化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tea_house_ghib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六大茶類齊備：綠、黃、白、青、紅、黑茶工藝發展完備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茶館林立：茶真正走入民間（柴米油鹽醬醋茶）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外銷樞紐：茶葉成為中英貿易、出口創匯的核心大宗物資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名產區確立：武夷山、祁門、雲南等地奠定歷史地位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茶葉在清代不僅是飲料，更是賺取西方白銀的全球戰略物資。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GONGFU TEA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閩粵流派：工夫茶的成熟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seat-horizont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流行區域：福建、廣東潮汕一帶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茶具特色：使用小壺（孟臣罐）、小杯（若深杯）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品飲重點：首重茶湯香氣與滋味的濃郁，而非如唐宋般吃下茶葉本身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「工夫」是指泡茶時的考究與花費的時間精力，是現代台灣茶道的直接前身。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重點梳理：唐宋明清飲茶方式比較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3474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朝代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唐代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宋代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明代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清代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主流茶葉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餅茶 (團茶)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茶粉 (團茶研磨)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散茶 (條索狀)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全茶類 (烏龍/紅茶等)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飲茶方式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煎茶法 (加鹽煮湯)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點茶法 (擊打起泡)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瀹泡法 (沖泡)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工夫茶 (講究沖泡工藝)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核心茶器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風爐、大釜、茶碗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黑釉建盞、茶筅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紫砂壺、白瓷杯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小壺(孟臣)、小杯(若深)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時代美學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樸實、國飲成型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豪奢、極致華麗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返璞歸真、自然野趣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7534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重香重味、世俗化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history_high_mountain_ghib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PART 03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30175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茶走向全球的影響力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0" y="4114800"/>
            <a:ext cx="1219200" cy="27432"/>
          </a:xfrm>
          <a:prstGeom prst="rect">
            <a:avLst/>
          </a:prstGeom>
          <a:solidFill>
            <a:srgbClr val="B45309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ASIA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茶道文化的在地深耕：日本與韓國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high_mountain_ghib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韓國：唐代傳入，與佛教儀式結合，注重自然與禮教。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日本發展：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一、平安時代遣唐使引進唐代茶文化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二、鎌倉時代榮西禪師帶回宋代點茶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三、千利休集大成，確立「和敬清寂」日本抹茶道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因為宋代充滿儀式感的點茶法最符合禪宗修行，反而被日本完整保留至今。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EUROPE &amp; THE WEST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海上絲路與歐洲貿易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high_mountain_ghib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17世紀初：荷蘭商船首次運茶回歐洲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英國皇室風潮：葡萄牙公主凱薩琳將飲茶習慣帶入英國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普及：英國東印度公司帶來大規模進口，茶從貴族奢侈品變為國民飲料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這是一段茶改變世界經濟的歷史，歐洲人甚至為此發動了戰爭（波士頓茶會、鴉片戰爭）。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AFTERNOON TEA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演進：英式下午茶的誕生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seat-horizont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19世紀英國貝德福德公爵夫人推動 Afternoon Tea 習慣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紅茶加奶加糖，搭配三層架點心（食用順序：由鹹至甜）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意義：社交意義大於解渴，成為西方優雅生活方式的象徵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這展現了文化在不同地區如何經過融合與在地化的轉變。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ETYMOLOGY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趣味冷知識：世界地圖上的 Tea 與 Cha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history_high_mountain_ghib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全球稱呼「茶」的發音，標示了它當初是怎麼傳送出國的：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【Cha 系統（陸路傳播）】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俄語 Chay、印地語 Chai、阿拉伯語 Shay（因從古都長安經絲路傳出）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【Tea 系統（海路傳播）】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英語 Tea、法語 Thé、德語 Tee（源於福建廈門方言 Tay，經海運出口）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學會這招，聽到當地人怎麼講茶，就知道當初他們是從水路還是陸路買到茶的！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map-mountai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PART 04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30175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台灣茶文化的百年風華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0" y="4114800"/>
            <a:ext cx="1219200" cy="27432"/>
          </a:xfrm>
          <a:prstGeom prst="rect">
            <a:avLst/>
          </a:prstGeom>
          <a:solidFill>
            <a:srgbClr val="B45309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ORIGINS IN TAIWAN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清代引種與北茶發跡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map-mountai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18世紀末（嘉慶年間）：柯朝引進武夷山茶籽種於北台灣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先天優勢：台灣多高山、日夜溫差大、海島氣候，極度適合茶樹生長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北部發跡：木柵、文山、南港成為早期茶鄉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說明地形氣候為何決定了台灣茶未來稱霸世界的潛力。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GLOBAL EXPANSION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清末輝煌：福爾摩沙茶走向世界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map-mountai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1865年：英國商人約翰·杜德（John Dodd）引進現代化茶廠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Formosa Oolong Tea 直銷紐約，身價極高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台北大稻埕崛起，帶狀茶行林立，成為經濟重心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約翰·杜德被稱為「台灣茶葉之父」，他讓台灣茶以 Formosa 的高貴名號熱銷全球。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MODERNIZATION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日治時期：科學管理與品種確立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map-mountai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設立「平鎮茶業試驗所」（今茶改場前身）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確立四大名種：青心烏龍、青心大冇、大葉烏龍、硬枝紅心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技術提升：外銷製造紅茶與綠茶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這是台灣茶葉從傳統工坊走向現代工業標準化的關鍵轉折。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CONTEMPORARY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戰後至現代：高山茶崛起與人文茶席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seat-horizont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戰後初期：綠茶銷往北非與中東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1980年代後：經濟起飛，「外銷轉內銷」，高山茶爆發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現代「人文茶席」：融合明清瀹泡法、日式美學與在地風土，發展出重視空間美學的獨家風格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現在大家在茶館看到的美美「茶席」，其實是台灣近代集大成後孕育出的美學。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xueya-ch4-seat-horizont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PART 05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30175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杯盞之間的生活與哲學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0" y="4114800"/>
            <a:ext cx="1219200" cy="27432"/>
          </a:xfrm>
          <a:prstGeom prst="rect">
            <a:avLst/>
          </a:prstGeom>
          <a:solidFill>
            <a:srgbClr val="B45309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AESTHETICS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茶文化的核心精神（一）：生活美學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seat-horizont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空間與器物的審美組合（壺、杯、承的形制款式）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借景與環境：結合花藝、焚香、掛畫的綜合展現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感官全開：眼觀湯色，鼻聞茶香，舌品回甘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喝茶是一種讓生活節奏慢下來，去欣賞微小細節的過程。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HUMANITY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茶文化的核心精神（二）：修心與待客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7" name="Image 0" descr="src/assets/images/xueya-ch4-seat-horizont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103120"/>
            <a:ext cx="384048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廉、美、和、敬的道德象徵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主客儀軌：奉茶的謙卑與接茶的感恩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靜默的力量：在喧囂現代生活中尋找內心平靜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學會泡茶，其實也是學會如何款待朋友與安頓自己。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重點回顧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206240" y="1920240"/>
            <a:ext cx="365760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本堂課程四大核心回顧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回顧：本堂課程四大重點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0" cy="18288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03120"/>
            <a:ext cx="3840480" cy="384048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1031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第一：起源與傳說。神農發現茶，從解毒藥用逐漸轉為文化飲品。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第二：歷代演變。歷經唐煎、宋點、明清瀹泡的工藝與美學轉變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第三：全球傳播。依海陸途徑發展出日本抹茶道與西方下午茶（Cha與Tea）。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第四：台灣風華。從外銷奇蹟轉為內銷，發展出極致高山茶與當代人文茶席。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0" y="49377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5074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講師口頭延伸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5394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92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快速幫大家複習過一次時間軸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92524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下堂課預告 &amp; Q&amp;A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206240" y="1920240"/>
            <a:ext cx="365760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《茶席歷史與台灣茶道儀軌》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7534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我們將實作茶具擺設，體驗泡茶禮儀！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92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assets/images/history_tea_house_ghibl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286000"/>
            <a:ext cx="1219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9F6E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謝謝聆聽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0" y="38404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D3D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中華茶產業文化研究學會 · 茶韻百科 團隊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0" y="4572000"/>
            <a:ext cx="1219200" cy="18288"/>
          </a:xfrm>
          <a:prstGeom prst="rect">
            <a:avLst/>
          </a:prstGeom>
          <a:solidFill>
            <a:srgbClr val="B4530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1113</Words>
  <Application>Microsoft Office PowerPoint</Application>
  <PresentationFormat>寬螢幕</PresentationFormat>
  <Paragraphs>276</Paragraphs>
  <Slides>36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0" baseType="lpstr">
      <vt:lpstr>微軟正黑體</vt:lpstr>
      <vt:lpstr>標楷體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茶文化的歷史源流與發展脈絡</dc:title>
  <dc:subject>PptxGenJS Presentation</dc:subject>
  <dc:creator>茶韻百科</dc:creator>
  <cp:lastModifiedBy>USER</cp:lastModifiedBy>
  <cp:revision>2</cp:revision>
  <dcterms:created xsi:type="dcterms:W3CDTF">2026-04-17T12:13:23Z</dcterms:created>
  <dcterms:modified xsi:type="dcterms:W3CDTF">2026-04-17T12:19:59Z</dcterms:modified>
</cp:coreProperties>
</file>