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xianxia_brewing_close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76800" y="0"/>
            <a:ext cx="7315200" cy="6858000"/>
          </a:xfrm>
          <a:prstGeom prst="rect">
            <a:avLst/>
          </a:prstGeom>
          <a:solidFill>
            <a:srgbClr val="F9F6EF"/>
          </a:solidFill>
          <a:ln/>
        </p:spPr>
      </p:sp>
      <p:sp>
        <p:nvSpPr>
          <p:cNvPr id="4" name="Shape 1"/>
          <p:cNvSpPr/>
          <p:nvPr/>
        </p:nvSpPr>
        <p:spPr>
          <a:xfrm>
            <a:off x="4876800" y="91440"/>
            <a:ext cx="73152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5242560" y="1371600"/>
            <a:ext cx="609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45309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茶藝四小時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242560" y="2377440"/>
            <a:ext cx="609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專題課程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303520" y="3429000"/>
            <a:ext cx="3657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5242560" y="3566160"/>
            <a:ext cx="609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7534E"/>
                </a:solidFill>
              </a:rPr>
              <a:t>四堂課 · 各一小時 · 完整台灣茶學訓練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42560" y="4114800"/>
            <a:ext cx="609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29E"/>
                </a:solidFill>
              </a:rPr>
              <a:t>茶韻百科 · 學校推廣教育課程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A29E"/>
                </a:solidFill>
              </a:rPr>
              <a:t>COURSE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課程架構總覽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27432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1097280" cy="11887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716C"/>
                </a:solidFill>
              </a:rPr>
              <a:t>茶文化的演變與歷史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神農起源 → 歷代品茗 → 台灣茶業百年發展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1097280" cy="118872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86384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716C"/>
                </a:solidFill>
              </a:rPr>
              <a:t>茶席歷史與台灣茶道儀軌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茶席源流 → 主客禮儀 → 器具佈置位圖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097280" cy="1188720"/>
          </a:xfrm>
          <a:prstGeom prst="roundRect">
            <a:avLst>
              <a:gd name="adj" fmla="val 6667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7534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9456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716C"/>
                </a:solidFill>
              </a:rPr>
              <a:t>六大茶類學與 ISO 國際標準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陳椽分類 → 六類製程 → ISO 認可歷程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023360"/>
            <a:ext cx="1097280" cy="118872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51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L04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6384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716C"/>
                </a:solidFill>
              </a:rPr>
              <a:t>台灣特色茶與產區風土巡禮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</a:rPr>
              <a:t>風土優勢 → 北部精品 → 中南高山產區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dynasty_ri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45309"/>
                </a:solidFill>
              </a:rPr>
              <a:t>LESSON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茶文化的演變與歷史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2743200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時長：1 小時  ·  共 3 個單元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COURSE UNITS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茶文化的演變與歷史 ── 單元規劃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單元一：茶的起源與文字考（約10分鐘）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神農嘗百草的傳說——「始于武夷，遠溯上古」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茶古作「荼」——《神農本草》的記載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陸羽《茶經》將「荼」減一劃成「茶」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茶的雅稱：茗、荈、甘露、瑞草等文化意涵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9144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單元二：歷代品茗文化（約25分鐘）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唐代：陸羽《茶經》，煎茶法成熟，「茶聖」確立茶的學術地位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宋代：點茶、鬥茶，宮廷士大夫的精緻茶文化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明代：廢團茶興散茶，瀹泡法走入日常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清代：閩粵工夫茶，現代茶道雛形形成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9144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單元三：台灣茶業發展史（約25分鐘）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嘉慶年間：柯朝攜武夷種茶籽植於北台灣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1858年：怡和洋行收購烏龍茶，外銷年代開啟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1865年：東方美人獲英女王美譽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1885年：魏靜時（南港包種）、王水錦（文山式）兩大製法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日治時期：平鎮茶業試驗所，四大品種確立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戰後：綠茶外銷黃金時代，1954年出口1,480萬公斤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教學目標、方式與堂末評量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📌 課程核心目標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建立茶文化歷史脈絡整體認識，理解茶從藥用演進為文化符號的過程，並感知台灣茶業的重要性。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📚 教學方式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講述搭配歷史地圖，按時間軸感受台灣茶業起伏節點，輔以互動問答。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✏️ 堂末評量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口頭問答：唐宋明清各代品茶方式？台灣茶業哪個時期稱「黃金年代」？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CF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xueya-ch4-seat-horizon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F766E"/>
                </a:solidFill>
              </a:rPr>
              <a:t>LESSON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茶席歷史與台灣茶道儀軌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274320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時長：1 小時  ·  共 3 個單元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COURSE UNITS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茶席歷史與台灣茶道儀軌 ── 單元規劃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單元一：茶席的歷史演變（約15分鐘）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中國文人茶席：掃地焚香、品茗閱卷的雅士文化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工夫茶的起源：潮汕閩粵茶俗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台灣當代人文茶席：傳統禮儀與美學佈置的融合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茶席精神：「有形藉物呈現，無形由涵養抒發」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9144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單元二：台灣茶道的精神與儀軌（約20分鐘）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事茶者基本儀態：坐姿、手勢、眼神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主客之禮：奉茶高度、角度、雙手遞送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品茗三段體驗：① 觀色 ② 聞香 ③ 品味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茶席靜默的力量：以沉靜引導感知當下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9144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單元三：茶席器具實務解析（約25分鐘）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主體：桌巾（雙色、色調搭配）、席方（穩定美感）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壺承：穩定、高度符合人體、造型與顏色搭配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飲杯八項選器標準：降溫、品香、衛生、觸感等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勻杯：不低於杯子、不高於壺；斷水順暢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茶席佈置位圖：各器具標準位置全解析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教學目標、方式與堂末評量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📌 課程核心目標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讓學員理解「茶席」是融合空間美學、人文精神與待客之道的完整體系，掌握基礎儀態與器具知識。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📚 教學方式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以茶席佈置位圖為核心視覺工具，搭配實物展示及奉茶禮儀練習。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✏️ 堂末評量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學員依佈置位圖完成基礎茶席擺設，並說明各器具功能及選器原則。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assets/serene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57534E"/>
                </a:solidFill>
              </a:rPr>
              <a:t>LESSON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六大茶類學與 ISO 國際標準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2743200" cy="36576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時長：1 小時  ·  共 3 個單元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COURSE UNITS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六大茶類學與 ISO 國際標準 ── 單元規劃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54864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單元一：陳椽教授分類學說（約20分鐘）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陳椽教授（1908–1999）：中國現代茶學奠基者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論文：《茶葉分類的理論與實際》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分類雙軸：發酵程度 × 製作工藝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六大類命名：以茶湯色澤為輔助辨識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常見誤區：烏龍茶為何歸屬「青茶」而非獨立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91440" cy="54864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單元二：六大茶類製程精要（約25分鐘）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🟢 綠茶——殺青→揉捻→乾燥，不發酵，清雅鮮爽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🟡 黃茶——悶黃工序，輕微後發酵，醇和甜潤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⬜ 白茶——自然萎凋乾燥，毫香顯著，清淡雋永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3434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🔵 青茶（烏龍）——搖青半發酵，香氣豐富多元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🔴 紅茶——全發酵，甜醇有力，世界最廣泛消費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3434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⚫ 黑茶——微生物後發酵，越陳越香，普洱代表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120640"/>
            <a:ext cx="91440" cy="54864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單元三：走向國際——ISO 標準化（約15分鐘）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ISO/TC34/SC8：茶葉技術委員會的成立背景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576072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六大茶類納入 ISO 標準的歷史時間線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意義：中國分類學術思路獲全球學術肯定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台灣烏龍茶在 ISO 框架下的定位（部分氧化茶）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教學目標、方式與堂末評量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5F5F4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534E"/>
                </a:solidFill>
              </a:rPr>
              <a:t>📌 課程核心目標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建立科學有系統的茶類分類觀念，能說明六大茶類製程差異，理解陳椽分類體系在國際茶學史上的意義。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📚 教學方式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製程對比圖表展示六大茶類差異；若條件允許，安排六款代表性茶樣品嚐。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✏️ 堂末評量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給定製程描述，學員判斷對應茶類並說明理由；說出 ISO 標準化的歷史意義。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map-mountai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47857"/>
                </a:solidFill>
              </a:rPr>
              <a:t>LESSON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台灣特色茶與產區風土巡禮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2743200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</a:rPr>
              <a:t>時長：1 小時  ·  共 3 個單元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COURSE UNITS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台灣特色茶與產區風土巡禮 ── 單元規劃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單元一：台灣茶的風土基礎（約10分鐘）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地形：14座超過3,000公尺高山，茶園可達2,600公尺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氣候：日夜溫差大，利於芳香物質積累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主力品種：青心烏龍、金萱（台茶12）、翠玉（台茶13）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定位：以高山半球形烏龍茶聞名全球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91440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單元二：北部產區特色茶（約25分鐘）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文山包種（坪林、石碇）：輕發酵10–15%，花香清揚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南港包種：魏靜時始祖，台灣現代製茶母法發源地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木柵鐵觀音：重焙火，韻味醇厚，帶火香與果甜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東方美人（新竹峨眉、北埔）：蜒葉蟬蜜香，英女王賜名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91440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單元三：中南部與高海拔產區（約25分鐘）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梨山（1,800–2,400m）：清甜奶香，冰涼感顯著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大禹嶺（2,400–2,600m）：台灣最高海拔茶區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阿里山烏龍（1,000–1,800m）：奶香帶花香，甘醇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凍頂烏龍（南投鹿谷）：中焙，焦糖底韻，圓潤醇厚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日月潭紅茶——台茶18號（紅玉）：肉桂薄荷尾韻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61722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台東紅烏龍：半發酵後烘焙，台灣首創，蜜香甜潤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14400" y="6172200"/>
            <a:ext cx="73152" cy="7315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蜜香紅茶（花蓮瑞穗）：蜒葉蟬加持，無農藥認證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A29E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8716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教學目標、方式與堂末評量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📌 課程核心目標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16C"/>
                </a:solidFill>
              </a:rPr>
              <a:t>讓學員以「產區風土」視角認識台灣名茶，了解地理高度、氣候、品種與工藝如何共同造就台灣茶的世界級品質。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📚 教學方式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以台灣地圖為核心視覺工具，逐區「點圖介紹」，搭配風味描述詞（花香、奶香、蜜香等）。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716C"/>
                </a:solidFill>
              </a:rPr>
              <a:t>✏️ 堂末評量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7534E"/>
                </a:solidFill>
              </a:rPr>
              <a:t>指出地圖上3個台灣茶產區，各說出代表茶及主要風味特徵。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tea_house_ghibl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由衷感謝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D3D1"/>
                </a:solidFill>
              </a:rPr>
              <a:t>茶韻百科 · 傳承與教育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0" y="4389120"/>
            <a:ext cx="1219200" cy="18288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茶藝四小時專題課程題綱</dc:title>
  <dc:subject>茶韻百科・學校推廣教育</dc:subject>
  <dc:creator>茶韻百科</dc:creator>
  <cp:lastModifiedBy>茶韻百科</cp:lastModifiedBy>
  <cp:revision>1</cp:revision>
  <dcterms:created xsi:type="dcterms:W3CDTF">2026-04-16T19:02:32Z</dcterms:created>
  <dcterms:modified xsi:type="dcterms:W3CDTF">2026-04-16T19:02:32Z</dcterms:modified>
</cp:coreProperties>
</file>